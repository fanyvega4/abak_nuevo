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0" y="1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9DEB2-9A5E-4FBF-8B3D-0C0F1A40401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52EE7-6260-410F-AB27-8688AEDCC49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978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9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9" name="Imagen 8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F762C9A4-9FEC-9BE0-FC2A-1505D7C61D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" t="260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76FC87DF-3282-DC89-895A-696D1549D1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9495" y="1710987"/>
            <a:ext cx="3712563" cy="2780539"/>
          </a:xfrm>
          <a:prstGeom prst="rect">
            <a:avLst/>
          </a:prstGeom>
        </p:spPr>
      </p:pic>
      <p:pic>
        <p:nvPicPr>
          <p:cNvPr id="68" name="Imagen 67" descr="Icono&#10;&#10;El contenido generado por IA puede ser incorrecto.">
            <a:extLst>
              <a:ext uri="{FF2B5EF4-FFF2-40B4-BE49-F238E27FC236}">
                <a16:creationId xmlns:a16="http://schemas.microsoft.com/office/drawing/2014/main" id="{39E11587-145A-CD90-5DE4-61F2DC36E2A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860" y="2882552"/>
            <a:ext cx="4555378" cy="4555378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89027095-947E-8735-B3F2-D8BB8ADDDB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975" y="3992563"/>
            <a:ext cx="6705082" cy="2570566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748650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atrón de fondo">
            <a:extLst>
              <a:ext uri="{FF2B5EF4-FFF2-40B4-BE49-F238E27FC236}">
                <a16:creationId xmlns:a16="http://schemas.microsoft.com/office/drawing/2014/main" id="{5AADCDD8-C30E-0864-2C5D-5D9EE14D65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4491F165-8BE0-927B-8390-D33EE73BE8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14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5047B63-45F8-9A94-0BEC-4313B51B33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14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5331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">
            <a:extLst>
              <a:ext uri="{FF2B5EF4-FFF2-40B4-BE49-F238E27FC236}">
                <a16:creationId xmlns:a16="http://schemas.microsoft.com/office/drawing/2014/main" id="{B84DE00A-FD31-78D5-827C-821B366F45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>
            <a:fillRect/>
          </a:stretch>
        </p:blipFill>
        <p:spPr>
          <a:xfrm>
            <a:off x="-6350" y="0"/>
            <a:ext cx="12192000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D048C08F-489D-8660-B556-E529C2541E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353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5073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Patrón de fondo">
            <a:extLst>
              <a:ext uri="{FF2B5EF4-FFF2-40B4-BE49-F238E27FC236}">
                <a16:creationId xmlns:a16="http://schemas.microsoft.com/office/drawing/2014/main" id="{3ADDE068-078F-65F4-81DE-880DA429E7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09C420D-5A5B-BDB0-18B4-01C25D8E54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15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8081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Patrón de fondo">
            <a:extLst>
              <a:ext uri="{FF2B5EF4-FFF2-40B4-BE49-F238E27FC236}">
                <a16:creationId xmlns:a16="http://schemas.microsoft.com/office/drawing/2014/main" id="{7692CD13-0113-E587-E65A-ED2CD8F0F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AA7E1D9-7023-616E-3C4C-D8297A6954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14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4878390" cy="1477961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2249485"/>
            <a:ext cx="4878391" cy="35417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609599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54A37252-405A-BC94-8449-4E7C4BD1C2F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79241" y="3530601"/>
            <a:ext cx="2734265" cy="2047839"/>
          </a:xfrm>
          <a:prstGeom prst="rect">
            <a:avLst/>
          </a:prstGeom>
        </p:spPr>
      </p:pic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D322B3ED-BD71-C889-73F4-57DE13A2102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607" y="3932516"/>
            <a:ext cx="3291847" cy="32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47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Patrón de fondo">
            <a:extLst>
              <a:ext uri="{FF2B5EF4-FFF2-40B4-BE49-F238E27FC236}">
                <a16:creationId xmlns:a16="http://schemas.microsoft.com/office/drawing/2014/main" id="{7692CD13-0113-E587-E65A-ED2CD8F0F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AA7E1D9-7023-616E-3C4C-D8297A6954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14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4878390" cy="1477961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2249485"/>
            <a:ext cx="4878391" cy="35417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609599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54A37252-405A-BC94-8449-4E7C4BD1C2F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79241" y="3530601"/>
            <a:ext cx="2734265" cy="204783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322B3ED-BD71-C889-73F4-57DE13A2102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79607" y="3932516"/>
            <a:ext cx="3291847" cy="32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87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Patrón de fondo">
            <a:extLst>
              <a:ext uri="{FF2B5EF4-FFF2-40B4-BE49-F238E27FC236}">
                <a16:creationId xmlns:a16="http://schemas.microsoft.com/office/drawing/2014/main" id="{7692CD13-0113-E587-E65A-ED2CD8F0F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AA7E1D9-7023-616E-3C4C-D8297A6954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14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4878390" cy="1477961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2249485"/>
            <a:ext cx="4878391" cy="35417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609599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54A37252-405A-BC94-8449-4E7C4BD1C2F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79241" y="3530601"/>
            <a:ext cx="2734265" cy="204783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322B3ED-BD71-C889-73F4-57DE13A2102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79607" y="3932516"/>
            <a:ext cx="3291847" cy="32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905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Patrón de fondo">
            <a:extLst>
              <a:ext uri="{FF2B5EF4-FFF2-40B4-BE49-F238E27FC236}">
                <a16:creationId xmlns:a16="http://schemas.microsoft.com/office/drawing/2014/main" id="{7692CD13-0113-E587-E65A-ED2CD8F0F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AA7E1D9-7023-616E-3C4C-D8297A6954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14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4878390" cy="1477961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2249485"/>
            <a:ext cx="4878391" cy="35417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609599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54A37252-405A-BC94-8449-4E7C4BD1C2F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79241" y="3530601"/>
            <a:ext cx="2734265" cy="204783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322B3ED-BD71-C889-73F4-57DE13A2102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79607" y="3932516"/>
            <a:ext cx="3291847" cy="32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04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Patrón de fondo">
            <a:extLst>
              <a:ext uri="{FF2B5EF4-FFF2-40B4-BE49-F238E27FC236}">
                <a16:creationId xmlns:a16="http://schemas.microsoft.com/office/drawing/2014/main" id="{7692CD13-0113-E587-E65A-ED2CD8F0F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AA7E1D9-7023-616E-3C4C-D8297A6954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14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4878390" cy="1477961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2249485"/>
            <a:ext cx="4878391" cy="35417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609599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54A37252-405A-BC94-8449-4E7C4BD1C2F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79241" y="3530601"/>
            <a:ext cx="2734265" cy="204783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322B3ED-BD71-C889-73F4-57DE13A2102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79607" y="3932516"/>
            <a:ext cx="3291847" cy="32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20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">
            <a:extLst>
              <a:ext uri="{FF2B5EF4-FFF2-40B4-BE49-F238E27FC236}">
                <a16:creationId xmlns:a16="http://schemas.microsoft.com/office/drawing/2014/main" id="{D4F7A9D7-DD9F-A994-92FC-3898A16675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" t="260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911920D3-A0B4-0ECA-FE17-F470E88909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15" y="321562"/>
            <a:ext cx="10752594" cy="207248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2840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Patrón de fondo">
            <a:extLst>
              <a:ext uri="{FF2B5EF4-FFF2-40B4-BE49-F238E27FC236}">
                <a16:creationId xmlns:a16="http://schemas.microsoft.com/office/drawing/2014/main" id="{E4870F6A-8957-99F3-2C9A-C6C6E9ED81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" t="260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4651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Patrón de fondo">
            <a:extLst>
              <a:ext uri="{FF2B5EF4-FFF2-40B4-BE49-F238E27FC236}">
                <a16:creationId xmlns:a16="http://schemas.microsoft.com/office/drawing/2014/main" id="{C983BE76-39F2-9846-C487-909C99B24F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A3DEE586-5CFB-F398-3130-CAB75EAED6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703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8827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Patrón de fondo">
            <a:extLst>
              <a:ext uri="{FF2B5EF4-FFF2-40B4-BE49-F238E27FC236}">
                <a16:creationId xmlns:a16="http://schemas.microsoft.com/office/drawing/2014/main" id="{617BD470-1531-9DC3-3A42-5F11C69AF5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E29FA9EB-ED79-54BF-C609-494BC04045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703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2492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Patrón de fondo">
            <a:extLst>
              <a:ext uri="{FF2B5EF4-FFF2-40B4-BE49-F238E27FC236}">
                <a16:creationId xmlns:a16="http://schemas.microsoft.com/office/drawing/2014/main" id="{617BD470-1531-9DC3-3A42-5F11C69AF5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E29FA9EB-ED79-54BF-C609-494BC04045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703" y="318021"/>
            <a:ext cx="6661017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  <p:pic>
        <p:nvPicPr>
          <p:cNvPr id="11" name="Imagen 10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9D4F5D6C-02CF-C56D-FE67-BF941A72DE2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862" y="1066800"/>
            <a:ext cx="5330519" cy="533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80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Patrón de fondo">
            <a:extLst>
              <a:ext uri="{FF2B5EF4-FFF2-40B4-BE49-F238E27FC236}">
                <a16:creationId xmlns:a16="http://schemas.microsoft.com/office/drawing/2014/main" id="{617BD470-1531-9DC3-3A42-5F11C69AF5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E29FA9EB-ED79-54BF-C609-494BC04045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703" y="318021"/>
            <a:ext cx="6661017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EAAD87A1-0FC1-F2E7-88E6-7D6F8C05A60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2561" y="286669"/>
            <a:ext cx="3051920" cy="2285747"/>
          </a:xfrm>
          <a:prstGeom prst="rect">
            <a:avLst/>
          </a:prstGeom>
        </p:spPr>
      </p:pic>
      <p:pic>
        <p:nvPicPr>
          <p:cNvPr id="11" name="Imagen 10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9D4F5D6C-02CF-C56D-FE67-BF941A72DE2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921" y="1209459"/>
            <a:ext cx="5330519" cy="533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334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">
            <a:extLst>
              <a:ext uri="{FF2B5EF4-FFF2-40B4-BE49-F238E27FC236}">
                <a16:creationId xmlns:a16="http://schemas.microsoft.com/office/drawing/2014/main" id="{5A93BB98-B951-EFBD-8167-D23A1C9E73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>
            <a:fillRect/>
          </a:stretch>
        </p:blipFill>
        <p:spPr>
          <a:xfrm>
            <a:off x="-635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259F4B17-2992-7A45-D6A5-9DFC9AFF32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703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4028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">
            <a:extLst>
              <a:ext uri="{FF2B5EF4-FFF2-40B4-BE49-F238E27FC236}">
                <a16:creationId xmlns:a16="http://schemas.microsoft.com/office/drawing/2014/main" id="{EA2C2D3D-37CA-043A-ACF4-F2B2C9BC06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>
            <a:fillRect/>
          </a:stretch>
        </p:blipFill>
        <p:spPr>
          <a:xfrm>
            <a:off x="-6350" y="0"/>
            <a:ext cx="12192000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C506D3C8-FCD8-1592-8F08-1C323C1792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703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15054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">
            <a:extLst>
              <a:ext uri="{FF2B5EF4-FFF2-40B4-BE49-F238E27FC236}">
                <a16:creationId xmlns:a16="http://schemas.microsoft.com/office/drawing/2014/main" id="{CFC5105C-FC33-2F14-6554-2B1705E2F2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" t="260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DF2AEE19-5DB3-C035-9A4E-C706220C5C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14" y="4133093"/>
            <a:ext cx="10752594" cy="1750181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84F69892-D4E0-4571-B62B-23C673A50B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14" y="340015"/>
            <a:ext cx="10752594" cy="3110978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18262" y="3534854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08" y="4263435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01200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Patrón de fondo">
            <a:extLst>
              <a:ext uri="{FF2B5EF4-FFF2-40B4-BE49-F238E27FC236}">
                <a16:creationId xmlns:a16="http://schemas.microsoft.com/office/drawing/2014/main" id="{0198757A-295E-CE66-E86F-BC118A4F92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7A4E56FC-A285-CEB7-1CBB-576AB95D4E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319" y="2134040"/>
            <a:ext cx="10752594" cy="252361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0503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">
            <a:extLst>
              <a:ext uri="{FF2B5EF4-FFF2-40B4-BE49-F238E27FC236}">
                <a16:creationId xmlns:a16="http://schemas.microsoft.com/office/drawing/2014/main" id="{43816CAF-F535-8D77-0DF2-2204CC49AB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7B3924E-24EC-C234-E129-56D8FF6586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15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7954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orma, Patrón de fondo">
            <a:extLst>
              <a:ext uri="{FF2B5EF4-FFF2-40B4-BE49-F238E27FC236}">
                <a16:creationId xmlns:a16="http://schemas.microsoft.com/office/drawing/2014/main" id="{C1582744-39A4-F7C5-8269-F4B02CEAB1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D36958A2-08E6-7A2F-1649-C1E48C888F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13" y="318019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37250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, Patrón de fondo">
            <a:extLst>
              <a:ext uri="{FF2B5EF4-FFF2-40B4-BE49-F238E27FC236}">
                <a16:creationId xmlns:a16="http://schemas.microsoft.com/office/drawing/2014/main" id="{D366FFE4-227E-92EC-B26B-461C6FCE3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AE1413CD-2156-CC55-22E6-CFD83CCB53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14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41376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, Patrón de fondo">
            <a:extLst>
              <a:ext uri="{FF2B5EF4-FFF2-40B4-BE49-F238E27FC236}">
                <a16:creationId xmlns:a16="http://schemas.microsoft.com/office/drawing/2014/main" id="{7CF836CF-B632-3AB9-24CC-10A96E6322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017122C6-0246-1480-F687-BCBA6F8FEF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703" y="318021"/>
            <a:ext cx="10752594" cy="62219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9557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48" name="Imagen 47" descr="Forma, Patrón de fondo">
            <a:extLst>
              <a:ext uri="{FF2B5EF4-FFF2-40B4-BE49-F238E27FC236}">
                <a16:creationId xmlns:a16="http://schemas.microsoft.com/office/drawing/2014/main" id="{BFD3F29E-EC20-46E7-0C53-31D9F0107698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ED36F-D408-49CD-BAE7-09064C744005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8DB71-C1FB-4598-A871-F8370F1479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02727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79" r:id="rId6"/>
    <p:sldLayoutId id="2147483680" r:id="rId7"/>
    <p:sldLayoutId id="2147483681" r:id="rId8"/>
    <p:sldLayoutId id="2147483682" r:id="rId9"/>
    <p:sldLayoutId id="2147483666" r:id="rId10"/>
    <p:sldLayoutId id="2147483667" r:id="rId11"/>
    <p:sldLayoutId id="2147483668" r:id="rId12"/>
    <p:sldLayoutId id="2147483669" r:id="rId13"/>
    <p:sldLayoutId id="2147483683" r:id="rId14"/>
    <p:sldLayoutId id="2147483684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9D9CEC4-974A-ABE2-3863-3507CAFAC162}"/>
              </a:ext>
            </a:extLst>
          </p:cNvPr>
          <p:cNvSpPr txBox="1"/>
          <p:nvPr/>
        </p:nvSpPr>
        <p:spPr>
          <a:xfrm>
            <a:off x="784747" y="4284976"/>
            <a:ext cx="62916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b="1" dirty="0"/>
              <a:t>Gestión de Almacenes en SIAAPI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1E2923F-E700-73B3-89CC-F797228C3A9B}"/>
              </a:ext>
            </a:extLst>
          </p:cNvPr>
          <p:cNvSpPr txBox="1"/>
          <p:nvPr/>
        </p:nvSpPr>
        <p:spPr>
          <a:xfrm>
            <a:off x="7732075" y="1912540"/>
            <a:ext cx="347472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</a:rPr>
              <a:t>¡Bienvenido!</a:t>
            </a:r>
          </a:p>
          <a:p>
            <a:pPr algn="ctr"/>
            <a:r>
              <a:rPr lang="es-ES" dirty="0">
                <a:solidFill>
                  <a:schemeClr val="bg1"/>
                </a:solidFill>
              </a:rPr>
              <a:t>Te mostraré cómo organizar tus almacenes de acuerdo a las necesidades de tu empresa.</a:t>
            </a: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942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09D5E-0F3C-C223-EAF4-D4671117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Organización de los Almacenes</a:t>
            </a:r>
            <a:br>
              <a:rPr lang="es-MX" dirty="0"/>
            </a:br>
            <a:endParaRPr lang="es-MX" dirty="0"/>
          </a:p>
        </p:txBody>
      </p:sp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288EB7EB-5FAE-857B-75E5-B38BD261B37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397" r="639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C3F1AC-815F-0619-E61D-4ADCB1BE9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MX" b="1" dirty="0"/>
              <a:t>Organiza y administrar los almacenes</a:t>
            </a:r>
            <a:r>
              <a:rPr lang="es-MX" dirty="0"/>
              <a:t> de acuerdo con las necesidades de tu empresa.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 pueden definir diferentes tipos de almacenes: materias primas, artículos terminados, tintas, refacciones, desecho,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Además, es posible establecer el </a:t>
            </a:r>
            <a:r>
              <a:rPr lang="es-MX" b="1" i="1" dirty="0" err="1"/>
              <a:t>layout</a:t>
            </a:r>
            <a:r>
              <a:rPr lang="es-MX" b="1" dirty="0"/>
              <a:t> interno</a:t>
            </a:r>
            <a:r>
              <a:rPr lang="es-MX" dirty="0"/>
              <a:t> de cada almacén (zonas, racks y niveles) para un mejor control de inventarios.</a:t>
            </a:r>
          </a:p>
          <a:p>
            <a:r>
              <a:rPr lang="es-MX" dirty="0"/>
              <a:t>👉 Con esto se logra una </a:t>
            </a:r>
            <a:r>
              <a:rPr lang="es-MX" b="1" dirty="0"/>
              <a:t>gestión más eficiente, ordenada y flexible</a:t>
            </a:r>
            <a:r>
              <a:rPr lang="es-MX" dirty="0"/>
              <a:t> de los recursos.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31355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1656754-C81C-1F86-E17D-C9AD91BA3BCA}"/>
              </a:ext>
            </a:extLst>
          </p:cNvPr>
          <p:cNvSpPr txBox="1">
            <a:spLocks/>
          </p:cNvSpPr>
          <p:nvPr/>
        </p:nvSpPr>
        <p:spPr>
          <a:xfrm>
            <a:off x="1141411" y="619126"/>
            <a:ext cx="8195384" cy="1477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/>
              <a:t>Definición de almacenes</a:t>
            </a:r>
            <a:endParaRPr lang="es-MX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6581283D-04CF-71BE-89D8-7B6516318194}"/>
              </a:ext>
            </a:extLst>
          </p:cNvPr>
          <p:cNvSpPr txBox="1">
            <a:spLocks/>
          </p:cNvSpPr>
          <p:nvPr/>
        </p:nvSpPr>
        <p:spPr>
          <a:xfrm>
            <a:off x="1141411" y="1683396"/>
            <a:ext cx="9798339" cy="13475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dirty="0"/>
              <a:t>En SIAAPI es posible definir múltiples almacenes de acuerdo con las necesidades de la empresa, ya sea por su </a:t>
            </a:r>
            <a:r>
              <a:rPr lang="es-MX" b="1" dirty="0"/>
              <a:t>ubicación física </a:t>
            </a:r>
            <a:r>
              <a:rPr lang="es-MX" dirty="0"/>
              <a:t>o por la </a:t>
            </a:r>
            <a:r>
              <a:rPr lang="es-MX" b="1" dirty="0"/>
              <a:t>división de áreas específicas </a:t>
            </a:r>
            <a:r>
              <a:rPr lang="es-MX" dirty="0"/>
              <a:t>dentro del mismo almacén.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15E7DAC-A3DB-CE9D-BF6E-1E084435D212}"/>
              </a:ext>
            </a:extLst>
          </p:cNvPr>
          <p:cNvSpPr txBox="1"/>
          <p:nvPr/>
        </p:nvSpPr>
        <p:spPr>
          <a:xfrm>
            <a:off x="7643191" y="3816626"/>
            <a:ext cx="2415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/>
                </a:solidFill>
              </a:rPr>
              <a:t>¿Sabes como definir tus almacenes?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E952479-819B-50F7-A8D8-C1B9D3F26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39" y="3161357"/>
            <a:ext cx="4352921" cy="262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66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5CEFD-809C-F585-20F5-EF8A004C4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Layout</a:t>
            </a:r>
            <a:r>
              <a:rPr lang="es-MX" dirty="0"/>
              <a:t> de ubicaciones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84435C-6822-C29A-BEB3-D96AB56A3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s-MX" sz="2000" dirty="0"/>
              <a:t>Una vez que tenemos definidos nuestros almacenes, ¡es hora de organizarlos por dentro! 🏷️Con el </a:t>
            </a:r>
            <a:r>
              <a:rPr lang="es-MX" sz="2000" dirty="0" err="1"/>
              <a:t>layout</a:t>
            </a:r>
            <a:r>
              <a:rPr lang="es-MX" sz="2000" dirty="0"/>
              <a:t> interno podemos ubicar cada producto de manera clara y sencilla, lo que hace mucho más fácil el control y el inventario.</a:t>
            </a:r>
          </a:p>
          <a:p>
            <a:r>
              <a:rPr lang="es-MX" sz="2000" dirty="0"/>
              <a:t>Parámetros configurables: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Zona</a:t>
            </a:r>
            <a:r>
              <a:rPr lang="es-MX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Ubicación/Rack</a:t>
            </a:r>
            <a:endParaRPr lang="es-MX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Nivel</a:t>
            </a:r>
            <a:endParaRPr lang="es-MX" sz="20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330B2BB-E184-915C-1FB4-A12C1DD35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630" y="939452"/>
            <a:ext cx="3495806" cy="4960307"/>
          </a:xfrm>
          <a:prstGeom prst="round2Same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01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CF7F1-13F6-5821-D924-F51E5FAA2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Layout</a:t>
            </a: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29D7528-CA52-EB34-51FA-D4A3FAA38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632224"/>
              </p:ext>
            </p:extLst>
          </p:nvPr>
        </p:nvGraphicFramePr>
        <p:xfrm>
          <a:off x="1019060" y="2687320"/>
          <a:ext cx="600419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398">
                  <a:extLst>
                    <a:ext uri="{9D8B030D-6E8A-4147-A177-3AD203B41FA5}">
                      <a16:colId xmlns:a16="http://schemas.microsoft.com/office/drawing/2014/main" val="279458670"/>
                    </a:ext>
                  </a:extLst>
                </a:gridCol>
                <a:gridCol w="2001398">
                  <a:extLst>
                    <a:ext uri="{9D8B030D-6E8A-4147-A177-3AD203B41FA5}">
                      <a16:colId xmlns:a16="http://schemas.microsoft.com/office/drawing/2014/main" val="3947810647"/>
                    </a:ext>
                  </a:extLst>
                </a:gridCol>
                <a:gridCol w="2001398">
                  <a:extLst>
                    <a:ext uri="{9D8B030D-6E8A-4147-A177-3AD203B41FA5}">
                      <a16:colId xmlns:a16="http://schemas.microsoft.com/office/drawing/2014/main" val="2460209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Zona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Ubicación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Nivel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12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Pasillo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Rack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Nivel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677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Pasillo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Rack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Nivel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122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Pasillo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Rack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Nivel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723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Pasillo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Rack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Nivel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28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Pasillo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Rack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Nivel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439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Pasillo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Nivel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221454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A66A0357-2B78-2C99-5DC0-E0399CCE2504}"/>
              </a:ext>
            </a:extLst>
          </p:cNvPr>
          <p:cNvSpPr txBox="1"/>
          <p:nvPr/>
        </p:nvSpPr>
        <p:spPr>
          <a:xfrm>
            <a:off x="7512148" y="609600"/>
            <a:ext cx="27572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2"/>
                </a:solidFill>
              </a:rPr>
              <a:t>Definamos juntos el </a:t>
            </a:r>
            <a:r>
              <a:rPr lang="es-MX" sz="2000" b="1" dirty="0" err="1">
                <a:solidFill>
                  <a:schemeClr val="bg2"/>
                </a:solidFill>
              </a:rPr>
              <a:t>Layout</a:t>
            </a:r>
            <a:r>
              <a:rPr lang="es-MX" sz="2000" b="1" dirty="0">
                <a:solidFill>
                  <a:schemeClr val="bg2"/>
                </a:solidFill>
              </a:rPr>
              <a:t> del almacén</a:t>
            </a:r>
          </a:p>
        </p:txBody>
      </p:sp>
    </p:spTree>
    <p:extLst>
      <p:ext uri="{BB962C8B-B14F-4D97-AF65-F5344CB8AC3E}">
        <p14:creationId xmlns:p14="http://schemas.microsoft.com/office/powerpoint/2010/main" val="1062773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B3C085-D26E-B71C-BEAB-3301D023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Flujo en el </a:t>
            </a:r>
            <a:r>
              <a:rPr lang="es-MX" dirty="0" err="1"/>
              <a:t>siaApi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3C64F1-4742-BC05-7B8C-1C91BDD93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3" y="3871196"/>
            <a:ext cx="3195240" cy="576262"/>
          </a:xfrm>
        </p:spPr>
        <p:txBody>
          <a:bodyPr/>
          <a:lstStyle/>
          <a:p>
            <a:r>
              <a:rPr lang="es-MX" dirty="0"/>
              <a:t>Definición de los almacenes</a:t>
            </a:r>
          </a:p>
        </p:txBody>
      </p:sp>
      <p:pic>
        <p:nvPicPr>
          <p:cNvPr id="13" name="Marcador de posición de imagen 12">
            <a:extLst>
              <a:ext uri="{FF2B5EF4-FFF2-40B4-BE49-F238E27FC236}">
                <a16:creationId xmlns:a16="http://schemas.microsoft.com/office/drawing/2014/main" id="{A9B0D9DA-EA09-6808-B76D-96E263346217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55" b="26155"/>
          <a:stretch>
            <a:fillRect/>
          </a:stretch>
        </p:blipFill>
        <p:spPr>
          <a:xfrm>
            <a:off x="1137310" y="2223726"/>
            <a:ext cx="3195240" cy="1524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26D5351-D750-10AB-273A-41FAFCCA1360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1141413" y="4570928"/>
            <a:ext cx="3195240" cy="1227773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En el </a:t>
            </a:r>
            <a:r>
              <a:rPr lang="es-MX" b="1" dirty="0"/>
              <a:t>Menú Almacén</a:t>
            </a:r>
            <a:r>
              <a:rPr lang="es-MX" dirty="0"/>
              <a:t>, elije </a:t>
            </a:r>
            <a:r>
              <a:rPr lang="es-MX" b="1" dirty="0"/>
              <a:t>Almacenes.</a:t>
            </a:r>
          </a:p>
          <a:p>
            <a:r>
              <a:rPr lang="es-MX" b="1" dirty="0"/>
              <a:t>Agrega los datos del almacén </a:t>
            </a:r>
            <a:r>
              <a:rPr lang="es-MX" dirty="0"/>
              <a:t>como su código, descripción, teléfono, responsable, etc., para facilitar su ubicación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28C7555-C7FB-850C-C6F3-C5D38AE58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89053" y="3871196"/>
            <a:ext cx="3200400" cy="576262"/>
          </a:xfrm>
        </p:spPr>
        <p:txBody>
          <a:bodyPr/>
          <a:lstStyle/>
          <a:p>
            <a:r>
              <a:rPr lang="es-MX" dirty="0" err="1"/>
              <a:t>Layout</a:t>
            </a:r>
            <a:r>
              <a:rPr lang="es-MX" dirty="0"/>
              <a:t> de ubicaciones</a:t>
            </a:r>
          </a:p>
        </p:txBody>
      </p:sp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04304464-B9E2-A849-A5DC-ECB42A374912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79" b="26179"/>
          <a:stretch>
            <a:fillRect/>
          </a:stretch>
        </p:blipFill>
        <p:spPr>
          <a:xfrm>
            <a:off x="4484688" y="2224088"/>
            <a:ext cx="3198812" cy="1524000"/>
          </a:xfr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27ED72B-86DB-EA7F-47DC-62DD3F41094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487593" y="4574687"/>
            <a:ext cx="3200400" cy="1216512"/>
          </a:xfrm>
        </p:spPr>
        <p:txBody>
          <a:bodyPr>
            <a:normAutofit lnSpcReduction="10000"/>
          </a:bodyPr>
          <a:lstStyle/>
          <a:p>
            <a:r>
              <a:rPr lang="es-MX" dirty="0"/>
              <a:t>En el </a:t>
            </a:r>
            <a:r>
              <a:rPr lang="es-MX" b="1" dirty="0"/>
              <a:t>Menú Almacén</a:t>
            </a:r>
            <a:r>
              <a:rPr lang="es-MX" dirty="0"/>
              <a:t>, elije </a:t>
            </a:r>
            <a:r>
              <a:rPr lang="es-MX" b="1" dirty="0" err="1"/>
              <a:t>Layout</a:t>
            </a:r>
            <a:r>
              <a:rPr lang="es-MX" dirty="0"/>
              <a:t> </a:t>
            </a:r>
            <a:r>
              <a:rPr lang="es-MX" b="1" dirty="0"/>
              <a:t>Almacenes.</a:t>
            </a:r>
          </a:p>
          <a:p>
            <a:r>
              <a:rPr lang="es-MX" dirty="0"/>
              <a:t>Define las </a:t>
            </a:r>
            <a:r>
              <a:rPr lang="es-MX" b="1" dirty="0"/>
              <a:t>zonas, ubicaciones y niveles </a:t>
            </a:r>
            <a:r>
              <a:rPr lang="es-MX" dirty="0"/>
              <a:t>que manejarás.</a:t>
            </a:r>
          </a:p>
          <a:p>
            <a:endParaRPr lang="es-MX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18ADFC02-F6CF-2294-42DD-2C4E71475D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52567" y="3871195"/>
            <a:ext cx="3190741" cy="576262"/>
          </a:xfrm>
        </p:spPr>
        <p:txBody>
          <a:bodyPr/>
          <a:lstStyle/>
          <a:p>
            <a:r>
              <a:rPr lang="es-MX" dirty="0"/>
              <a:t>Asignar Familia al almacén</a:t>
            </a:r>
          </a:p>
        </p:txBody>
      </p:sp>
      <p:pic>
        <p:nvPicPr>
          <p:cNvPr id="17" name="Marcador de posición de imagen 16">
            <a:extLst>
              <a:ext uri="{FF2B5EF4-FFF2-40B4-BE49-F238E27FC236}">
                <a16:creationId xmlns:a16="http://schemas.microsoft.com/office/drawing/2014/main" id="{E2BCBA16-6158-6E7C-BE94-9F03F3E8F8D9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15" b="14215"/>
          <a:stretch/>
        </p:blipFill>
        <p:spPr>
          <a:xfrm>
            <a:off x="7848600" y="2224088"/>
            <a:ext cx="3194050" cy="1524000"/>
          </a:xfrm>
        </p:spPr>
      </p:pic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CFDF2737-35EA-B608-378C-7FE78C926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852442" y="4574682"/>
            <a:ext cx="3194968" cy="1216517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En el </a:t>
            </a:r>
            <a:r>
              <a:rPr lang="es-MX" b="1" dirty="0"/>
              <a:t>Menú Almacén</a:t>
            </a:r>
            <a:r>
              <a:rPr lang="es-MX" dirty="0"/>
              <a:t>, elije </a:t>
            </a:r>
            <a:r>
              <a:rPr lang="es-MX" b="1" dirty="0"/>
              <a:t>Almacenes por familia.</a:t>
            </a:r>
          </a:p>
          <a:p>
            <a:r>
              <a:rPr lang="es-MX" dirty="0"/>
              <a:t>Establece que familias de productos se permitirán asignar a un almacén específico.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61423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6DA12-B6C5-829A-0103-0BC9AF8B6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Flujo del </a:t>
            </a:r>
            <a:r>
              <a:rPr lang="es-MX" dirty="0" err="1"/>
              <a:t>siaapi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0F1420-DF29-9503-EF72-EA353317B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3" y="3848336"/>
            <a:ext cx="3195240" cy="576262"/>
          </a:xfrm>
        </p:spPr>
        <p:txBody>
          <a:bodyPr/>
          <a:lstStyle/>
          <a:p>
            <a:r>
              <a:rPr lang="es-MX" dirty="0"/>
              <a:t>Inventario Inicial</a:t>
            </a:r>
          </a:p>
        </p:txBody>
      </p:sp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57E15215-5083-AA24-F956-DC010ACB9961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55" b="26155"/>
          <a:stretch/>
        </p:blipFill>
        <p:spPr>
          <a:xfrm>
            <a:off x="1141413" y="2163763"/>
            <a:ext cx="3195637" cy="1524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BB360F-B372-0A36-F7C0-DE57F02A2BCA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1141413" y="4419450"/>
            <a:ext cx="3195240" cy="1379252"/>
          </a:xfrm>
        </p:spPr>
        <p:txBody>
          <a:bodyPr>
            <a:normAutofit fontScale="92500" lnSpcReduction="10000"/>
          </a:bodyPr>
          <a:lstStyle/>
          <a:p>
            <a:r>
              <a:rPr lang="es-MX" dirty="0"/>
              <a:t>En el </a:t>
            </a:r>
            <a:r>
              <a:rPr lang="es-MX" b="1" dirty="0"/>
              <a:t>Menú Almacén</a:t>
            </a:r>
            <a:r>
              <a:rPr lang="es-MX" dirty="0"/>
              <a:t>, elije </a:t>
            </a:r>
            <a:r>
              <a:rPr lang="es-MX" b="1" dirty="0"/>
              <a:t>Capturar Inventario Inicial.</a:t>
            </a:r>
          </a:p>
          <a:p>
            <a:r>
              <a:rPr lang="es-MX" dirty="0"/>
              <a:t>Realiza el levantamiento de tu inventario inicial de tus artículos en el SIAAPI.</a:t>
            </a:r>
          </a:p>
          <a:p>
            <a:endParaRPr lang="es-MX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E99075C-2662-1057-C0A0-0BBA4D93C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89053" y="3848336"/>
            <a:ext cx="3200400" cy="576262"/>
          </a:xfrm>
        </p:spPr>
        <p:txBody>
          <a:bodyPr/>
          <a:lstStyle/>
          <a:p>
            <a:r>
              <a:rPr lang="es-MX" dirty="0"/>
              <a:t>Asignar ubicación</a:t>
            </a:r>
          </a:p>
        </p:txBody>
      </p:sp>
      <p:pic>
        <p:nvPicPr>
          <p:cNvPr id="19" name="Marcador de posición de imagen 18">
            <a:extLst>
              <a:ext uri="{FF2B5EF4-FFF2-40B4-BE49-F238E27FC236}">
                <a16:creationId xmlns:a16="http://schemas.microsoft.com/office/drawing/2014/main" id="{5A57D1EA-AB64-70E5-EFC6-D9006043D7D2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79" b="26179"/>
          <a:stretch/>
        </p:blipFill>
        <p:spPr>
          <a:xfrm>
            <a:off x="4489450" y="2163763"/>
            <a:ext cx="3198813" cy="1524000"/>
          </a:xfr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EBF762D-0BE8-79F4-DBF9-D923CF155AC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487593" y="4424597"/>
            <a:ext cx="3200400" cy="1366602"/>
          </a:xfrm>
        </p:spPr>
        <p:txBody>
          <a:bodyPr>
            <a:normAutofit fontScale="85000" lnSpcReduction="20000"/>
          </a:bodyPr>
          <a:lstStyle/>
          <a:p>
            <a:r>
              <a:rPr lang="es-MX" dirty="0"/>
              <a:t>En el </a:t>
            </a:r>
            <a:r>
              <a:rPr lang="es-MX" b="1" dirty="0"/>
              <a:t>Menú Almacén</a:t>
            </a:r>
            <a:r>
              <a:rPr lang="es-MX" dirty="0"/>
              <a:t>, elije </a:t>
            </a:r>
            <a:r>
              <a:rPr lang="es-MX" b="1" dirty="0"/>
              <a:t>Asignar Ubicación Inventario.</a:t>
            </a:r>
          </a:p>
          <a:p>
            <a:r>
              <a:rPr lang="es-MX" dirty="0"/>
              <a:t>Cuando ya tienes dado de alta tu inventario inicial, puedes asignar donde se ubican esos artículos en el almacén (zona, ubicación, nivel).</a:t>
            </a:r>
          </a:p>
          <a:p>
            <a:endParaRPr lang="es-MX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244D9E3E-C8C1-B2D7-A6F4-AD8CC52661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52567" y="3848335"/>
            <a:ext cx="3190741" cy="576262"/>
          </a:xfrm>
        </p:spPr>
        <p:txBody>
          <a:bodyPr/>
          <a:lstStyle/>
          <a:p>
            <a:r>
              <a:rPr lang="es-MX" dirty="0"/>
              <a:t>Movimientos de almacén</a:t>
            </a:r>
          </a:p>
        </p:txBody>
      </p:sp>
      <p:pic>
        <p:nvPicPr>
          <p:cNvPr id="21" name="Marcador de posición de imagen 20">
            <a:extLst>
              <a:ext uri="{FF2B5EF4-FFF2-40B4-BE49-F238E27FC236}">
                <a16:creationId xmlns:a16="http://schemas.microsoft.com/office/drawing/2014/main" id="{39D87A1F-3B6D-FBCD-32DE-66B02B578134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03" b="34103"/>
          <a:stretch/>
        </p:blipFill>
        <p:spPr>
          <a:xfrm>
            <a:off x="7851775" y="2163763"/>
            <a:ext cx="3195638" cy="1524000"/>
          </a:xfrm>
        </p:spPr>
      </p:pic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F22A7EB2-EDA4-4294-15D6-A9B45B11EBAD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852442" y="4424592"/>
            <a:ext cx="3194968" cy="1366607"/>
          </a:xfrm>
        </p:spPr>
        <p:txBody>
          <a:bodyPr>
            <a:noAutofit/>
          </a:bodyPr>
          <a:lstStyle/>
          <a:p>
            <a:r>
              <a:rPr lang="es-MX" sz="1200" dirty="0"/>
              <a:t>Registra movimientos de Entrada / Salida como: Recepción, Remisión, vales de salida, ajustes de almacén, cambios de presentación. Movimientos inter almacenes y más..</a:t>
            </a:r>
            <a:endParaRPr lang="es-MX" sz="1200" b="1" dirty="0"/>
          </a:p>
        </p:txBody>
      </p:sp>
    </p:spTree>
    <p:extLst>
      <p:ext uri="{BB962C8B-B14F-4D97-AF65-F5344CB8AC3E}">
        <p14:creationId xmlns:p14="http://schemas.microsoft.com/office/powerpoint/2010/main" val="3010262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FE43F-0929-48D6-5984-90E4E5500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116510"/>
          </a:xfrm>
        </p:spPr>
        <p:txBody>
          <a:bodyPr/>
          <a:lstStyle/>
          <a:p>
            <a:r>
              <a:rPr lang="es-MX" dirty="0"/>
              <a:t>Beneficios de la Gestión de Almacenes en SIAAPI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01E110-EF57-9D60-D0F4-03377066B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1905000"/>
            <a:ext cx="5934511" cy="4084320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Mayor control y orden</a:t>
            </a:r>
            <a:r>
              <a:rPr lang="es-MX" sz="1400" dirty="0"/>
              <a:t>: los productos siempre estarán localizados en la zona, rack y nivel correctos.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Ahorro de tiempo</a:t>
            </a:r>
            <a:r>
              <a:rPr lang="es-MX" sz="1400" dirty="0"/>
              <a:t>: búsquedas rápidas y procesos de inventario más ágiles.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Reducción de errores</a:t>
            </a:r>
            <a:r>
              <a:rPr lang="es-MX" sz="1400" dirty="0"/>
              <a:t>: minimiza pérdidas y confusiones al registrar entradas y salidas.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Flexibilidad</a:t>
            </a:r>
            <a:r>
              <a:rPr lang="es-MX" sz="1400" dirty="0"/>
              <a:t>: se adapta a distintos tipos de almacenes (materias primas, producto terminado, refacciones,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Trazabilidad completa</a:t>
            </a:r>
            <a:r>
              <a:rPr lang="es-MX" sz="1400" dirty="0"/>
              <a:t>: desde la recepción de mercancía hasta su ubicación final en el almacén.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Mejora en la toma de decisiones</a:t>
            </a:r>
            <a:r>
              <a:rPr lang="es-MX" sz="1400" dirty="0"/>
              <a:t>: datos confiables para compras, ventas y producción.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Cumplimiento y auditoría</a:t>
            </a:r>
            <a:r>
              <a:rPr lang="es-MX" sz="1400" dirty="0"/>
              <a:t>: registros claros que facilitan la rendición de cuentas..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3AC358-E562-9D1F-EE4C-A0D6C06AB384}"/>
              </a:ext>
            </a:extLst>
          </p:cNvPr>
          <p:cNvSpPr txBox="1"/>
          <p:nvPr/>
        </p:nvSpPr>
        <p:spPr>
          <a:xfrm>
            <a:off x="7505700" y="525781"/>
            <a:ext cx="2788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2"/>
                </a:solidFill>
              </a:rPr>
              <a:t>Si sabes dónde está cada cosa, ¡ahorras tiempo y evitas dolores de cabeza!</a:t>
            </a:r>
          </a:p>
        </p:txBody>
      </p:sp>
    </p:spTree>
    <p:extLst>
      <p:ext uri="{BB962C8B-B14F-4D97-AF65-F5344CB8AC3E}">
        <p14:creationId xmlns:p14="http://schemas.microsoft.com/office/powerpoint/2010/main" val="3892632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8EF8-39D1-3557-5DC6-E8BBA9213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FEFF5-0D01-1FA1-C706-B73D35652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Flujo en el </a:t>
            </a:r>
            <a:r>
              <a:rPr lang="es-MX" dirty="0" err="1"/>
              <a:t>siaApi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9E8300-13AF-8250-891B-72BB14A50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3" y="3871196"/>
            <a:ext cx="3195240" cy="576262"/>
          </a:xfrm>
        </p:spPr>
        <p:txBody>
          <a:bodyPr/>
          <a:lstStyle/>
          <a:p>
            <a:r>
              <a:rPr lang="es-MX" dirty="0"/>
              <a:t>Definición de los almacenes</a:t>
            </a:r>
          </a:p>
        </p:txBody>
      </p:sp>
      <p:pic>
        <p:nvPicPr>
          <p:cNvPr id="13" name="Marcador de posición de imagen 12">
            <a:extLst>
              <a:ext uri="{FF2B5EF4-FFF2-40B4-BE49-F238E27FC236}">
                <a16:creationId xmlns:a16="http://schemas.microsoft.com/office/drawing/2014/main" id="{33AC093A-4807-46D0-7BB3-43AEFA768A99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55" b="26155"/>
          <a:stretch>
            <a:fillRect/>
          </a:stretch>
        </p:blipFill>
        <p:spPr>
          <a:xfrm>
            <a:off x="1137310" y="2223726"/>
            <a:ext cx="3195240" cy="1524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2F5C9C8-93C7-3823-FC30-44FD60C06E88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1141413" y="4570928"/>
            <a:ext cx="3195240" cy="1227773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En el </a:t>
            </a:r>
            <a:r>
              <a:rPr lang="es-MX" b="1" dirty="0"/>
              <a:t>Menú Almacén</a:t>
            </a:r>
            <a:r>
              <a:rPr lang="es-MX" dirty="0"/>
              <a:t>, elije </a:t>
            </a:r>
            <a:r>
              <a:rPr lang="es-MX" b="1" dirty="0"/>
              <a:t>Almacenes.</a:t>
            </a:r>
          </a:p>
          <a:p>
            <a:r>
              <a:rPr lang="es-MX" b="1" dirty="0"/>
              <a:t>Agrega los datos del almacén </a:t>
            </a:r>
            <a:r>
              <a:rPr lang="es-MX" dirty="0"/>
              <a:t>como su código, descripción, teléfono, responsable, etc., para facilitar su ubicación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7DDA86B-DDCE-4423-B51D-BF8BBB2A1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89053" y="3871196"/>
            <a:ext cx="3200400" cy="576262"/>
          </a:xfrm>
        </p:spPr>
        <p:txBody>
          <a:bodyPr/>
          <a:lstStyle/>
          <a:p>
            <a:r>
              <a:rPr lang="es-MX" dirty="0" err="1"/>
              <a:t>Layout</a:t>
            </a:r>
            <a:r>
              <a:rPr lang="es-MX" dirty="0"/>
              <a:t> de ubicaciones</a:t>
            </a:r>
          </a:p>
        </p:txBody>
      </p:sp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84BC022D-B5AF-1A46-54CF-D3D76A640F04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79" b="26179"/>
          <a:stretch>
            <a:fillRect/>
          </a:stretch>
        </p:blipFill>
        <p:spPr>
          <a:xfrm>
            <a:off x="4484688" y="2224088"/>
            <a:ext cx="3198812" cy="1524000"/>
          </a:xfr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0442286-80A8-FCEC-B673-3CAAB81BE33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487593" y="4574687"/>
            <a:ext cx="3200400" cy="1216512"/>
          </a:xfrm>
        </p:spPr>
        <p:txBody>
          <a:bodyPr>
            <a:normAutofit lnSpcReduction="10000"/>
          </a:bodyPr>
          <a:lstStyle/>
          <a:p>
            <a:r>
              <a:rPr lang="es-MX" dirty="0"/>
              <a:t>En el </a:t>
            </a:r>
            <a:r>
              <a:rPr lang="es-MX" b="1" dirty="0"/>
              <a:t>Menú Almacén</a:t>
            </a:r>
            <a:r>
              <a:rPr lang="es-MX" dirty="0"/>
              <a:t>, elije </a:t>
            </a:r>
            <a:r>
              <a:rPr lang="es-MX" b="1" dirty="0" err="1"/>
              <a:t>Layout</a:t>
            </a:r>
            <a:r>
              <a:rPr lang="es-MX" dirty="0"/>
              <a:t> </a:t>
            </a:r>
            <a:r>
              <a:rPr lang="es-MX" b="1" dirty="0"/>
              <a:t>Almacenes.</a:t>
            </a:r>
          </a:p>
          <a:p>
            <a:r>
              <a:rPr lang="es-MX" dirty="0"/>
              <a:t>Define las </a:t>
            </a:r>
            <a:r>
              <a:rPr lang="es-MX" b="1" dirty="0"/>
              <a:t>zonas, ubicaciones y niveles </a:t>
            </a:r>
            <a:r>
              <a:rPr lang="es-MX" dirty="0"/>
              <a:t>que manejarás.</a:t>
            </a:r>
          </a:p>
          <a:p>
            <a:endParaRPr lang="es-MX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A6A9563-9880-1FB7-C30F-9DFC7CB254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52567" y="3871195"/>
            <a:ext cx="3190741" cy="576262"/>
          </a:xfrm>
        </p:spPr>
        <p:txBody>
          <a:bodyPr/>
          <a:lstStyle/>
          <a:p>
            <a:r>
              <a:rPr lang="es-MX" dirty="0"/>
              <a:t>Asignar Familia al almacén</a:t>
            </a:r>
          </a:p>
        </p:txBody>
      </p:sp>
      <p:pic>
        <p:nvPicPr>
          <p:cNvPr id="17" name="Marcador de posición de imagen 16">
            <a:extLst>
              <a:ext uri="{FF2B5EF4-FFF2-40B4-BE49-F238E27FC236}">
                <a16:creationId xmlns:a16="http://schemas.microsoft.com/office/drawing/2014/main" id="{44A2E5B7-1D20-1862-BE48-FC8B2AB2EB70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15" b="14215"/>
          <a:stretch/>
        </p:blipFill>
        <p:spPr>
          <a:xfrm>
            <a:off x="7848600" y="2224088"/>
            <a:ext cx="3194050" cy="1524000"/>
          </a:xfrm>
        </p:spPr>
      </p:pic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EB95D193-6D0E-0FE5-7B57-30E8D5A908BE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852442" y="4574682"/>
            <a:ext cx="3194968" cy="1216517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En el </a:t>
            </a:r>
            <a:r>
              <a:rPr lang="es-MX" b="1" dirty="0"/>
              <a:t>Menú Almacén</a:t>
            </a:r>
            <a:r>
              <a:rPr lang="es-MX" dirty="0"/>
              <a:t>, elije </a:t>
            </a:r>
            <a:r>
              <a:rPr lang="es-MX" b="1" dirty="0"/>
              <a:t>Almacenes por familia.</a:t>
            </a:r>
          </a:p>
          <a:p>
            <a:r>
              <a:rPr lang="es-MX" dirty="0"/>
              <a:t>Establece que familias de productos se permitirán asignar a un almacén específico.</a:t>
            </a:r>
          </a:p>
          <a:p>
            <a:endParaRPr lang="es-MX" dirty="0"/>
          </a:p>
        </p:txBody>
      </p:sp>
      <p:pic>
        <p:nvPicPr>
          <p:cNvPr id="4" name="Imagen 3" descr="Forma&#10;&#10;El contenido generado por IA puede ser incorrecto.">
            <a:extLst>
              <a:ext uri="{FF2B5EF4-FFF2-40B4-BE49-F238E27FC236}">
                <a16:creationId xmlns:a16="http://schemas.microsoft.com/office/drawing/2014/main" id="{47C68DE1-3B87-40DE-9ADB-5606A32484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601" y="427465"/>
            <a:ext cx="1444549" cy="166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86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Principal">
      <a:majorFont>
        <a:latin typeface="Proxima Nova Semibold"/>
        <a:ea typeface=""/>
        <a:cs typeface=""/>
      </a:majorFont>
      <a:minorFont>
        <a:latin typeface="Raleway"/>
        <a:ea typeface=""/>
        <a:cs typeface="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25A5428E-C7D9-477E-AB02-069EEF922DBC}" vid="{CFB7E964-EB47-49B0-9850-3ADB32F30FD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686</TotalTime>
  <Words>657</Words>
  <Application>Microsoft Office PowerPoint</Application>
  <PresentationFormat>Panorámica</PresentationFormat>
  <Paragraphs>78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Arial</vt:lpstr>
      <vt:lpstr>Proxima Nova Semibold</vt:lpstr>
      <vt:lpstr>Raleway</vt:lpstr>
      <vt:lpstr>Circuito</vt:lpstr>
      <vt:lpstr>Presentación de PowerPoint</vt:lpstr>
      <vt:lpstr>Organización de los Almacenes </vt:lpstr>
      <vt:lpstr>Presentación de PowerPoint</vt:lpstr>
      <vt:lpstr>Layout de ubicaciones</vt:lpstr>
      <vt:lpstr>Layout</vt:lpstr>
      <vt:lpstr>Flujo en el siaApi</vt:lpstr>
      <vt:lpstr>Flujo del siaapi</vt:lpstr>
      <vt:lpstr>Beneficios de la Gestión de Almacenes en SIAAPI</vt:lpstr>
      <vt:lpstr>Flujo en el siaApi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Itzel Villar</dc:creator>
  <cp:lastModifiedBy>Gabriela Garcia Velazco</cp:lastModifiedBy>
  <cp:revision>19</cp:revision>
  <dcterms:created xsi:type="dcterms:W3CDTF">2025-09-19T03:27:34Z</dcterms:created>
  <dcterms:modified xsi:type="dcterms:W3CDTF">2025-09-20T16:06:57Z</dcterms:modified>
</cp:coreProperties>
</file>